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Georgia"/>
              </a:rPr>
              <a:t>Cross-lingual AUC by model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Multilingual AUC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LogReg</c:v>
                  </c:pt>
                  <c:pt idx="1">
                    <c:v>Naive Bayes</c:v>
                  </c:pt>
                  <c:pt idx="2">
                    <c:v>SVM</c:v>
                  </c:pt>
                  <c:pt idx="3">
                    <c:v>BiLSTM</c:v>
                  </c:pt>
                  <c:pt idx="4">
                    <c:v>mBERT full</c:v>
                  </c:pt>
                  <c:pt idx="5">
                    <c:v>mBERT+Adapter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0.627</c:v>
                </c:pt>
                <c:pt idx="1">
                  <c:v>0.605</c:v>
                </c:pt>
                <c:pt idx="2">
                  <c:v>0.582</c:v>
                </c:pt>
                <c:pt idx="3">
                  <c:v>0.601</c:v>
                </c:pt>
                <c:pt idx="4">
                  <c:v>0.848</c:v>
                </c:pt>
                <c:pt idx="5">
                  <c:v>0.826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430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43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Georgia"/>
              </a:rPr>
              <a:t>Modele göre çok dilli AUC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Çok dilli AUC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LojReg</c:v>
                  </c:pt>
                  <c:pt idx="1">
                    <c:v>Naive Bayes</c:v>
                  </c:pt>
                  <c:pt idx="2">
                    <c:v>SVM</c:v>
                  </c:pt>
                  <c:pt idx="3">
                    <c:v>BiLSTM</c:v>
                  </c:pt>
                  <c:pt idx="4">
                    <c:v>mBERT tam</c:v>
                  </c:pt>
                  <c:pt idx="5">
                    <c:v>mBERT+Adapter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0.627</c:v>
                </c:pt>
                <c:pt idx="1">
                  <c:v>0.605</c:v>
                </c:pt>
                <c:pt idx="2">
                  <c:v>0.582</c:v>
                </c:pt>
                <c:pt idx="3">
                  <c:v>0.601</c:v>
                </c:pt>
                <c:pt idx="4">
                  <c:v>0.848</c:v>
                </c:pt>
                <c:pt idx="5">
                  <c:v>0.826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430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43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Georgia"/>
              </a:rPr>
              <a:t>AUC by language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TF-IDF LogReg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Turkish</c:v>
                  </c:pt>
                  <c:pt idx="1">
                    <c:v>Spanish</c:v>
                  </c:pt>
                  <c:pt idx="2">
                    <c:v>Italian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0.652</c:v>
                </c:pt>
                <c:pt idx="1">
                  <c:v>0.614</c:v>
                </c:pt>
                <c:pt idx="2">
                  <c:v>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mBERT + Adapter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Turkish</c:v>
                  </c:pt>
                  <c:pt idx="1">
                    <c:v>Spanish</c:v>
                  </c:pt>
                  <c:pt idx="2">
                    <c:v>Italian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0.89</c:v>
                </c:pt>
                <c:pt idx="1">
                  <c:v>0.822</c:v>
                </c:pt>
                <c:pt idx="2">
                  <c:v>0.772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430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43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4304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1463040"/>
            <a:ext cx="3840480" cy="3840480"/>
          </a:xfrm>
          <a:prstGeom prst="ellipse">
            <a:avLst/>
          </a:prstGeom>
          <a:solidFill>
            <a:srgbClr val="151B45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0" y="-640080"/>
            <a:ext cx="2194560" cy="21945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SEDS 537 · MACHINE LEARNING · TERM PROJECT · SPRING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Multilingual Toxic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Comment Classification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cross-lingual gap with parameter-efficient mBERT adapters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011680" cy="457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baselines</a:t>
            </a:r>
            <a:pPr indent="0" marL="0">
              <a:buNone/>
            </a:pPr>
            <a:r>
              <a:rPr lang="en-US" sz="15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</a:t>
            </a:r>
            <a:pPr indent="0" marL="0">
              <a:buNone/>
            </a:pPr>
            <a:r>
              <a:rPr lang="en-US" sz="15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 fine-tuning &amp; adapters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 / 8 June 2026, 16:30  ·  12 min talk + Q&amp;A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&amp; WHY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Definition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54480"/>
            <a:ext cx="6126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an online comment, decide whether it is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binary classification problem.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25880" y="2468880"/>
            <a:ext cx="6126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Platforms host comments in dozens of languages, but labelled toxicity data is overwhelmingly English.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Hand-labelling every language is expensive and slow — moderation must still work everywhere.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Goal: train on English only, then generalise to languages never seen during training (cross-lingual transfer).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63840" y="155448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863840" y="16916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223K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7863840" y="2331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training comments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63840" y="30632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63840" y="320040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langs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863840" y="38404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unseen: Turkish · Spanish · Italian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863840" y="45720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863840" y="47091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863840" y="53492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— a strongly imbalanced target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HARD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Cross-Lingual Challenge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an English-trained model struggle in Turkish or Spanish?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5880" y="2148840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148840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2402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mismatch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221992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Word-level models learn an English vocabulary. Turkish / Spanish words are simply unknown tokens — the signal disappears.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325880" y="3172968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5880" y="3172968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264408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shared meaning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0" y="324612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and LSTM treat 'idiot' and 'aptal' as unrelated symbols. They cannot transfer what 'toxic' looks like across languages.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325880" y="4197096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5880" y="4197096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4288536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scripts &amp; morphology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54880" y="4270248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Diacritics, agglutination and word order differ — surface features learned on English do not carry over.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325880" y="5221224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E6F7F4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5880" y="5221224"/>
            <a:ext cx="91440" cy="9144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1600200" y="531266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hypothesis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754880" y="5294376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multilingual pretrained encoder (mBERT) already maps all languages into one shared space, so toxicity learned in English transfers.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JIGSAW MULTILINGUAL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&amp; Examples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Source: Jigsaw Multilingual Toxic Comment Classification (Kaggle).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Train: ~223K English comments, binary label.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Validation: ~8K labelled multilingual (tr 3.0K · es 2.5K · it 2.5K).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Test: ~63K multilingual but unlabelled — labelled cross-lingual evaluation uses the validation split.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325880" y="3840480"/>
            <a:ext cx="50292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325880" y="3840480"/>
            <a:ext cx="5029200" cy="43891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3840480"/>
            <a:ext cx="4754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data comes from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4370832"/>
            <a:ext cx="4617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Released by Jigsaw (Google’s Conversation AI team) on Kaggle, 2020.</a:t>
            </a:r>
            <a:endParaRPr lang="en-US" sz="11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English comments: real Wikipedia talk-page edits + Civil Comments, reused from earlier Jigsaw challenges.</a:t>
            </a:r>
            <a:endParaRPr lang="en-US" sz="11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Multilingual val / test: non-English Wikipedia talk-page comments, newly gathered for this competition.</a:t>
            </a:r>
            <a:endParaRPr lang="en-US" sz="11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Toxicity labels assigned by human annotators.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29400" y="141732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29400" y="1417320"/>
            <a:ext cx="91440" cy="713232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0" y="1481328"/>
            <a:ext cx="4617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 · en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1700784"/>
            <a:ext cx="45720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“You, sir, are my hero. Any chance you remember what page that’s on?”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629400" y="224028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29400" y="2240280"/>
            <a:ext cx="91440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2304288"/>
            <a:ext cx="4617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· en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0" y="2523744"/>
            <a:ext cx="45720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“COCKS∗∗∗ER, before you piss around on my work…”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29400" y="306324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3063240"/>
            <a:ext cx="91440" cy="713232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3127248"/>
            <a:ext cx="4617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 · tr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3346704"/>
            <a:ext cx="45720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“Eline sağlık, açıklaman çok işime yaradı, teşekkürler!”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629400" y="388620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29400" y="3886200"/>
            <a:ext cx="91440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0" y="3950208"/>
            <a:ext cx="4617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· tr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58000" y="4169664"/>
            <a:ext cx="45720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“Aptal herif, s∗∗tir git buradan.”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629400" y="470916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29400" y="4709160"/>
            <a:ext cx="91440" cy="713232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0" y="4773168"/>
            <a:ext cx="4617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 · 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58000" y="4992624"/>
            <a:ext cx="45720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“Muchas gracias, LlamaAl. Sí que parece útil…”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629400" y="553212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629400" y="5532120"/>
            <a:ext cx="91440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0" y="5596128"/>
            <a:ext cx="4617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· it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858000" y="5815584"/>
            <a:ext cx="45720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“Incazzato come sei, non sei pure tu un sockpuppet…”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629400" y="6355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shortened / censored for the slide.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&amp; WHY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Approach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ladder of models, from simple to powerful — each answers a question the previous one could not.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25880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194560"/>
            <a:ext cx="2542032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417320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 baselines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2295144" y="274320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295144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17320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· NB · SVM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527048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do classic word-count models get? Establishes the floor.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032504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32504" y="2194560"/>
            <a:ext cx="2542032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123944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BiLSTM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001768" y="274320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5001768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123944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33672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modelling word order help? A deep-learning baseline.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739128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39128" y="2194560"/>
            <a:ext cx="2542032" cy="65836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6830568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 (full)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7708392" y="2743200"/>
            <a:ext cx="603504" cy="6035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7708392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830568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ALL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40296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multilingual transformer transfer? The strong baseline.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445752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45752" y="2194560"/>
            <a:ext cx="2542032" cy="65836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3" name="Text 31"/>
          <p:cNvSpPr/>
          <p:nvPr/>
        </p:nvSpPr>
        <p:spPr>
          <a:xfrm>
            <a:off x="9537192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 + Adapters</a:t>
            </a:r>
            <a:endParaRPr lang="en-US" sz="1550" dirty="0"/>
          </a:p>
        </p:txBody>
      </p:sp>
      <p:sp>
        <p:nvSpPr>
          <p:cNvPr id="34" name="Shape 32"/>
          <p:cNvSpPr/>
          <p:nvPr/>
        </p:nvSpPr>
        <p:spPr>
          <a:xfrm>
            <a:off x="10415016" y="2743200"/>
            <a:ext cx="603504" cy="6035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5" name="Text 33"/>
          <p:cNvSpPr/>
          <p:nvPr/>
        </p:nvSpPr>
        <p:spPr>
          <a:xfrm>
            <a:off x="10415016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9537192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46920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power for ~1% of the cost? Our parameter-efficient method.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25880" y="54864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 →  increasing capacity &amp; cross-lingual ability  →  efficient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PRIMER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Models Work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25880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1325880" y="2148840"/>
            <a:ext cx="3456432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 + classifier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OF WORDS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81912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Counts how often each word appears, weighted by rarity.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Ignores word order and meaning.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Vocabulary is English — non-English words vanish.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Fast, strong on English, no transfer.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946904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46904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7" name="Shape 15"/>
          <p:cNvSpPr/>
          <p:nvPr/>
        </p:nvSpPr>
        <p:spPr>
          <a:xfrm>
            <a:off x="4946904" y="2148840"/>
            <a:ext cx="3456432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5084064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BiLSTM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084064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02936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Reads the sentence left→right and right→left.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Captures word order &amp; local context.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Embeddings learned from English only.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Better English, still no real transfer.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567928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67928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00A896"/>
          </a:solidFill>
          <a:ln/>
        </p:spPr>
      </p:sp>
      <p:sp>
        <p:nvSpPr>
          <p:cNvPr id="23" name="Shape 21"/>
          <p:cNvSpPr/>
          <p:nvPr/>
        </p:nvSpPr>
        <p:spPr>
          <a:xfrm>
            <a:off x="8567928" y="2148840"/>
            <a:ext cx="3456432" cy="320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8705088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705088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TRANSFORMER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23960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Transformer pretrained on 104 languages.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Self-attention links every word to every other.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All languages share one embedding space.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Toxicity learned in English transfers out.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LOGREG / SVM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Simple Model, Step by Step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46304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simplest model decide? It just adds up a score for the words it knows.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25880" y="2103120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21031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comment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103120"/>
            <a:ext cx="3931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050792" y="2103120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4050792" y="21031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Split into words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82512" y="2103120"/>
            <a:ext cx="3931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75704" y="2103120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6775704" y="21031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Weigh each word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07424" y="2103120"/>
            <a:ext cx="3931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500616" y="2103120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9500616" y="21031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Add up → decide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325880" y="297180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463040" y="3154680"/>
            <a:ext cx="2057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so stupid, just shut up.”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050792" y="297180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53712" y="3136392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53712" y="31363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53712" y="3419856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53712" y="3419856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53712" y="3703320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53712" y="3703320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53712" y="3986784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53712" y="3986784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stupid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53712" y="4270248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270248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53712" y="4553712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53712" y="455371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53712" y="4837176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53712" y="4837176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75704" y="297180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958584" y="299008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→ weight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050024" y="3172968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stupid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918704" y="317296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050024" y="3538728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7918704" y="353872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050024" y="3904488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7918704" y="390448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050024" y="4270248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7918704" y="427024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7050024" y="4636008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7918704" y="463600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9500616" y="297180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9500616" y="31546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weights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500616" y="338328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+3.4</a:t>
            </a:r>
            <a:endParaRPr lang="en-US" sz="3000" dirty="0"/>
          </a:p>
        </p:txBody>
      </p:sp>
      <p:sp>
        <p:nvSpPr>
          <p:cNvPr id="53" name="Text 51"/>
          <p:cNvSpPr/>
          <p:nvPr/>
        </p:nvSpPr>
        <p:spPr>
          <a:xfrm>
            <a:off x="9500616" y="3977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toxic probability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500616" y="42062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0.94</a:t>
            </a:r>
            <a:endParaRPr lang="en-US" sz="2600" dirty="0"/>
          </a:p>
        </p:txBody>
      </p:sp>
      <p:sp>
        <p:nvSpPr>
          <p:cNvPr id="55" name="Shape 53"/>
          <p:cNvSpPr/>
          <p:nvPr/>
        </p:nvSpPr>
        <p:spPr>
          <a:xfrm>
            <a:off x="9957816" y="4754880"/>
            <a:ext cx="1417320" cy="329184"/>
          </a:xfrm>
          <a:prstGeom prst="roundRect">
            <a:avLst>
              <a:gd name="adj" fmla="val 13889"/>
            </a:avLst>
          </a:prstGeom>
          <a:solidFill>
            <a:srgbClr val="C0392B"/>
          </a:solidFill>
          <a:ln/>
        </p:spPr>
      </p:sp>
      <p:sp>
        <p:nvSpPr>
          <p:cNvPr id="56" name="Text 54"/>
          <p:cNvSpPr/>
          <p:nvPr/>
        </p:nvSpPr>
        <p:spPr>
          <a:xfrm>
            <a:off x="9957816" y="4754880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325880" y="544068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how often a word appears, down-weighted if it is common everywhere.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LogReg / SVM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just learn one +/− weight per word and add them up.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1325880" y="59436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Catch: it knows no word order and only English words — so “aptal” or “stupido” score 0, and transfer collapses.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 IDEA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Method: Adapter Tuning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mBERT as a huge brain already trained on 104 languages — about </a:t>
            </a:r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 million tiny “knobs.”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25880" y="2148840"/>
            <a:ext cx="60807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43044"/>
                </a:solidFill>
              </a:rPr>
              <a:t>The usual way (full fine-tuning) re-tunes ALL 178M knobs for our task — slow, and you end up storing a whole new copy of the model.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43044"/>
                </a:solidFill>
              </a:rPr>
              <a:t>Adapters: we FREEZE the big brain and snap in a few small new layers inside it.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43044"/>
                </a:solidFill>
              </a:rPr>
              <a:t>We then train ONLY those small layers — about 1 knob in every 75 (1.34%).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43044"/>
                </a:solidFill>
              </a:rPr>
              <a:t>The pretrained knowledge stays intact; the adapters just nudge it toward toxicity detection.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726680" y="2011680"/>
            <a:ext cx="393192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26680" y="2148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actually trains?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38160" y="2651760"/>
            <a:ext cx="3108960" cy="2011680"/>
          </a:xfrm>
          <a:prstGeom prst="roundRect">
            <a:avLst>
              <a:gd name="adj" fmla="val 2727"/>
            </a:avLst>
          </a:prstGeom>
          <a:solidFill>
            <a:srgbClr val="E8EDF5"/>
          </a:solidFill>
          <a:ln w="12700">
            <a:solidFill>
              <a:srgbClr val="B9C4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724912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 encoder · 178M weights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FROZEN (98.66%)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75320" y="3383280"/>
            <a:ext cx="883920" cy="1097280"/>
          </a:xfrm>
          <a:prstGeom prst="roundRect">
            <a:avLst>
              <a:gd name="adj" fmla="val 5172"/>
            </a:avLst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3383280"/>
            <a:ext cx="88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250680" y="3383280"/>
            <a:ext cx="883920" cy="1097280"/>
          </a:xfrm>
          <a:prstGeom prst="roundRect">
            <a:avLst>
              <a:gd name="adj" fmla="val 5172"/>
            </a:avLst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9250680" y="3383280"/>
            <a:ext cx="88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226040" y="3383280"/>
            <a:ext cx="883920" cy="1097280"/>
          </a:xfrm>
          <a:prstGeom prst="roundRect">
            <a:avLst>
              <a:gd name="adj" fmla="val 5172"/>
            </a:avLst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10226040" y="3383280"/>
            <a:ext cx="88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800600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138160" y="48006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head (trained)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26680" y="5394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trained (1.34%)   ·   grey = frozen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Experimental Design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25880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508760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81912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80/20 English split for in-language test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Full multilingual validation for transfer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Validation order preserved for error analysis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46904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6904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129784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Imbalance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02936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Toxic is rare — weight it ~9.5× in the loss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Tune the decision cut-off, not just 0.5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so we don't just predict 'clean' for everything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567928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67928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750808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stopping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823960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Keep the epoch with best multilingual score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Word models overfit English and peak early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avoids reporting a worse, later epoch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325880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5880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1508760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581912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AUC-ROC, F1, accuracy, precision, recall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Per-language breakdown (tr / es / it)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Trainable params + ms / sample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946904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46904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5129784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Cleaning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02936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Aggressive ASCII clean → TF-IDF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Unicode-preserving clean → LSTM / mBERT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by design, to expose the gap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567928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67928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750808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Hardware &amp; time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823960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Single NVIDIA RTX 3060 Ti GPU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TF-IDF baselines: ~8–12 min · mBERT: ~2–3 h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PyTorch + HuggingFace + scikit-learn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Zero-Shot Evaluation: What It Means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48132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“Zero-shot”</a:t>
            </a:r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we test the model in languages it saw </a:t>
            </a:r>
            <a:pPr indent="0" marL="0">
              <a:lnSpc>
                <a:spcPct val="110000"/>
              </a:lnSpc>
              <a:buNone/>
            </a:pPr>
            <a:r>
              <a:rPr lang="en-US" sz="16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labelled examples of during training. We train on English only, then evaluate on Turkish, Spanish and Italian.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5880" y="2331720"/>
          <a:ext cx="10332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846320"/>
                <a:gridCol w="25603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Labelled training data in the target language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project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Zero-shot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examples — none at 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This is us  (tr · es · it)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Few-shot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handful (≈ 5–50 examples)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Fine-tuned / supervised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 labelled examples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1325880" y="4754880"/>
            <a:ext cx="10332720" cy="1325880"/>
          </a:xfrm>
          <a:prstGeom prst="roundRect">
            <a:avLst>
              <a:gd name="adj" fmla="val 5517"/>
            </a:avLst>
          </a:prstGeom>
          <a:solidFill>
            <a:srgbClr val="E6F7F4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325880" y="4754880"/>
            <a:ext cx="109728" cy="13258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0"/>
          <p:cNvSpPr/>
          <p:nvPr/>
        </p:nvSpPr>
        <p:spPr>
          <a:xfrm>
            <a:off x="1600200" y="4864608"/>
            <a:ext cx="9875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gave the model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Turkish / Spanish / Italian data, yet it still </a:t>
            </a:r>
            <a:pPr indent="0" marL="0">
              <a:lnSpc>
                <a:spcPct val="112000"/>
              </a:lnSpc>
              <a:buNone/>
            </a:pPr>
            <a:r>
              <a:rPr lang="en-US" sz="14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toxicity well (AUC ~0.83). The modest F1 / recall are the price of using zero target-language labels — and exactly the point: moderation that works in new languages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collecting data for each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5880" y="1691640"/>
          <a:ext cx="61264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822960"/>
                <a:gridCol w="731520"/>
                <a:gridCol w="914400"/>
                <a:gridCol w="9144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Mult.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Mult.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Mult. 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Trainable params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LogReg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Naive Bayes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SVM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(full)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+ Adapter (ours)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1325880" y="4526280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read here: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is strong on English (~0.94–0.97). But on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languages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TF-IDF &amp; LSTM collapse to ~0.6 (little better than guessing), while mBERT + adapters holds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proving cross-lingual transfer, at ~1% of the training cost.</a:t>
            </a:r>
            <a:endParaRPr lang="en-US" sz="14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680960" y="169164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 (TÜRKÇE)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Temel Bulgular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5880" y="1691640"/>
          <a:ext cx="61264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822960"/>
                <a:gridCol w="731520"/>
                <a:gridCol w="914400"/>
                <a:gridCol w="9144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İng.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Çok dilli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Çok dilli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Çok dilli 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Eğitilen parametre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Lojistik Reg.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Naive Bayes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SVM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(tam eğitim)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+ Adapter (bizim)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%1.34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1325880" y="4526280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Buradan ne anlamalı: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model İngilizcede güçlü (~0.94–0.97). Ama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 görmediği dillerde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TF-IDF ve LSTM ~0.6’ya düşüyor (neredeyse rastgele), mBERT + adapter ise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’te kalıyor — diller arası transferi, eğitim maliyetinin ~%1’iyle kanıtlıyor.</a:t>
            </a:r>
            <a:endParaRPr lang="en-US" sz="14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680960" y="169164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Per-Language Transfer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1325880" y="1737360"/>
          <a:ext cx="61264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726680" y="2011680"/>
            <a:ext cx="3977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Adapters lift every language well above the classical baseline.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Turkish gains the most (0.65 → 0.89) despite being typologically far from English.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Italian is hardest (0.77) — likely fewer toxic cues survive transfer.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Confirms mBERT's shared space carries toxicity signal across scripts and families.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NUMBERS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Transfer Differ by Language?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46304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three languages, three different gains. Here is how we read those numbers — and where we are guessing.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325880" y="2103120"/>
            <a:ext cx="3456432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103120"/>
            <a:ext cx="3456432" cy="56692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2103120"/>
            <a:ext cx="34564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Turkish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25880" y="2715768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3.0K eval comments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25880" y="2999232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 → 0.89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25880" y="3291840"/>
            <a:ext cx="3456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+0.24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325880" y="3803904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gain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81912" y="4114800"/>
            <a:ext cx="29443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jump. Not because Turkish is close to English — it isn't. mBERT simply saw a lot of Turkish while pretraining, and the classical baseline started very low, so there was the most room to gain.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46904" y="2103120"/>
            <a:ext cx="3456432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6904" y="2103120"/>
            <a:ext cx="3456432" cy="5669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4946904" y="2103120"/>
            <a:ext cx="34564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Spanish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46904" y="2715768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2.5K eval comments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46904" y="2999232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 → 0.82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946904" y="3291840"/>
            <a:ext cx="3456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+0.21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4946904" y="3803904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gain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02936" y="4114800"/>
            <a:ext cx="29443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gain. Shares the Latin script and many roots with English, so toxic cues line up fairly well in mBERT's shared space.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567928" y="2103120"/>
            <a:ext cx="3456432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67928" y="2103120"/>
            <a:ext cx="3456432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8567928" y="2103120"/>
            <a:ext cx="34564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567928" y="2715768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2.5K eval comments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567928" y="2999232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 → 0.77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567928" y="3291840"/>
            <a:ext cx="3456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+0.17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8567928" y="3803904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gain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23960" y="4114800"/>
            <a:ext cx="29443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gain / hardest. Likely fewer toxic words overlap with what was seen in English training, so subtler insults slip through. (Partly our interpretation.)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325880" y="56692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caveat: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interpretations of the scores, not controlled experiments. The clear, measured fact is the ranking — Turkish gains most, Italian least; the “why” is our best explanation.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DIFFERENT?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 3 vs 4: Full vs Adapter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481328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start from the very same pre-trained mBERT. The only difference is how much of it we train.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25880" y="2057400"/>
            <a:ext cx="5029200" cy="640080"/>
          </a:xfrm>
          <a:prstGeom prst="roundRect">
            <a:avLst>
              <a:gd name="adj" fmla="val 8571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20574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3 · Full Fine-Tuning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720840" y="2057400"/>
            <a:ext cx="5029200" cy="640080"/>
          </a:xfrm>
          <a:prstGeom prst="roundRect">
            <a:avLst>
              <a:gd name="adj" fmla="val 8571"/>
            </a:avLst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6720840" y="20574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4 · Adapter Tuning  (ours)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2807208"/>
            <a:ext cx="50292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2807208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trained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383280" y="2807208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mBERT's weights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720840" y="2807208"/>
            <a:ext cx="5029200" cy="658368"/>
          </a:xfrm>
          <a:prstGeom prst="rect">
            <a:avLst/>
          </a:prstGeom>
          <a:solidFill>
            <a:srgbClr val="F2FBF9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3720" y="2807208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trained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778240" y="2807208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small adapters + head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325880" y="3465576"/>
            <a:ext cx="5029200" cy="658368"/>
          </a:xfrm>
          <a:prstGeom prst="rect">
            <a:avLst/>
          </a:prstGeom>
          <a:solidFill>
            <a:srgbClr val="EEF3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08760" y="3465576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Trainable params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83280" y="3465576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 (~178M)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720840" y="3465576"/>
            <a:ext cx="5029200" cy="658368"/>
          </a:xfrm>
          <a:prstGeom prst="rect">
            <a:avLst/>
          </a:prstGeom>
          <a:solidFill>
            <a:srgbClr val="E6F7F4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3465576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Trainable params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778240" y="3465576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1.34%  (~2.4M)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1325880" y="4123944"/>
            <a:ext cx="50292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08760" y="4123944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per task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383280" y="4123944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~700 MB copy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720840" y="4123944"/>
            <a:ext cx="5029200" cy="658368"/>
          </a:xfrm>
          <a:prstGeom prst="rect">
            <a:avLst/>
          </a:prstGeom>
          <a:solidFill>
            <a:srgbClr val="F2FBF9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03720" y="4123944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per task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778240" y="4123944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 ~2 MB adapter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1325880" y="4782312"/>
            <a:ext cx="5029200" cy="658368"/>
          </a:xfrm>
          <a:prstGeom prst="rect">
            <a:avLst/>
          </a:prstGeom>
          <a:solidFill>
            <a:srgbClr val="EEF3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508760" y="4782312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AUC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383280" y="4782312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~0.85  (slightly higher)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720840" y="4782312"/>
            <a:ext cx="5029200" cy="658368"/>
          </a:xfrm>
          <a:prstGeom prst="rect">
            <a:avLst/>
          </a:prstGeom>
          <a:solidFill>
            <a:srgbClr val="E6F7F4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03720" y="4782312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AUC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778240" y="4782312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~0.83  (on par)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1325880" y="5440680"/>
            <a:ext cx="50292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08760" y="544068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speed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3383280" y="5440680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heaviest — updates the whole network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720840" y="5440680"/>
            <a:ext cx="5029200" cy="658368"/>
          </a:xfrm>
          <a:prstGeom prst="rect">
            <a:avLst/>
          </a:prstGeom>
          <a:solidFill>
            <a:srgbClr val="F2FBF9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03720" y="544068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speed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8778240" y="5440680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— 16.9 ms per comment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325880" y="6236208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short:  </a:t>
            </a:r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adapter reaches almost the same accuracy as full fine-tuning while training ~75× fewer weights — far cheaper to train, store and swap.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&amp; WRONG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Analysis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mBERT-adapter predictions on the multilingual validation set (threshold 0.05).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25880" y="205740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057400"/>
            <a:ext cx="109728" cy="20116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1671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True Positive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63440" y="218541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· p = 0.98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00200" y="260604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“Incazzato come sei, non sei pure tu un sockpuppet…”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56616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correctly flagged — transfer works.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629400" y="205740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9400" y="2057400"/>
            <a:ext cx="109728" cy="20116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6903720" y="21671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 False Negative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966960" y="218541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· p = 0.00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260604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“Supongo que eso de que eres un adicto al porno es un vandalismo…”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356616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toxic — subtle insult, low recall cost.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325880" y="429768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5880" y="4297680"/>
            <a:ext cx="109728" cy="20116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1600200" y="44074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 False Positive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663440" y="442569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· p = 0.99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00200" y="484632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“Forse stupida; vedo che riesci a editare da mobile, come fai?”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00200" y="580644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over-flagged — 'stupida' triggers it.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629400" y="429768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29400" y="4297680"/>
            <a:ext cx="109728" cy="20116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30" name="Text 28"/>
          <p:cNvSpPr/>
          <p:nvPr/>
        </p:nvSpPr>
        <p:spPr>
          <a:xfrm>
            <a:off x="6903720" y="44074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True Negative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966960" y="442569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· p = 0.00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03720" y="484632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“Muchas gracias, LlamaAl. Sí que parece útil…”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03720" y="580644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correctly passed.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METRIC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AUC, but Misses Real Insults?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46304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Turkish AUC is a strong 0.89 — yet the model lets many toxic comments through. Both are true. Here is why.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325880" y="2057400"/>
            <a:ext cx="5029200" cy="37033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554480" y="2194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of a thermometer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260604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asks: does the model give toxic comments a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score than clean ones?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its ranking is good (0.89).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554480" y="35204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actual scores it gives Turkish toxicity are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often 0.2%–0.5%. They are ranked correctly, just far below any sensible cut-off.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554480" y="45262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asks a different question: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we actually flag them?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Since the scores sit so low, few cross the line — so recall stays low even when AUC is high.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583680" y="20574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Missed Turkish toxicity (false negatives)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83680" y="2468880"/>
            <a:ext cx="507492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0" y="2468880"/>
            <a:ext cx="91440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12280" y="2468880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S*** git, b** p**.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0" y="2468880"/>
            <a:ext cx="1325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0.2%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583680" y="3291840"/>
            <a:ext cx="507492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3291840"/>
            <a:ext cx="91440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6812280" y="3291840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O****** ç*****, defol.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0" y="3291840"/>
            <a:ext cx="1325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0.4%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583680" y="4114800"/>
            <a:ext cx="507492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4114800"/>
            <a:ext cx="91440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6812280" y="4114800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A**l herif, k*** kafalı.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241280" y="4114800"/>
            <a:ext cx="1325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583680" y="502920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probability the model assigned →  all far below the 5% threshold, so all were let through.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0" y="557784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Profanity heavily censored. The model never saw these explicit Turkish words in English-only training.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Compare to Other Work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481328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the first to tackle multilingual toxicity. Here is how our single-GPU result sits next to the literature.</a:t>
            </a:r>
            <a:endParaRPr lang="en-US" sz="15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5880" y="2011680"/>
          <a:ext cx="10332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01168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 / 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Multilingual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Jigsaw Kaggle winners (2020)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XLM-R (large) + ensembles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~0.95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test set · heavy GPUs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Published mBERT cross-lingual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fine-tuning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~0.80–0.85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idea to 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Houlsby et al. (2019), adapters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adapters on BERT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full  (−0.4%)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adapters ≈ full tuning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Ours: mBERT + adapter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adapters, English-only train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GPU · 1.34% params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1325880" y="45720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The best public scores (~0.95) use far bigger models (XLM-R), many languages and ensembles — well beyond a single-GPU budget.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Our 0.83 lands in the same range as published mBERT cross-lingual results, even though we trained on English only.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Adapter studies (Houlsby 2019; Pfeiffer MAD-X 2020) report adapters matching full fine-tuning — exactly the pattern we see (0.83 vs 0.85).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325880" y="603504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test sets, model sizes and compute — shown for context, not a head-to-head ranking.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Concluding Remarks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71600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103120" y="1691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Cross-lingual transfer is real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103120" y="2075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multilingual encoder generalises toxicity from English to unseen languages; word-count and LSTM models cannot.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371600" y="28803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103120" y="2834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Adapters are the sweet spot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103120" y="3218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~1.34% of parameters reach full-fine-tuning-level transfer (~0.83 AUC) — the project's main result.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1371600" y="4023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4023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103120" y="3977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evaluation matters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03120" y="4361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Per-language metrics, threshold tuning and best-checkpoint selection prevent over-optimistic numbers.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1371600" y="5166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5166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103120" y="5120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next steps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103120" y="5504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is modest under imbalance; the official test set is unlabelled. Future: adapter-size ablation, more languages, focal loss.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754880"/>
            <a:ext cx="3840480" cy="3840480"/>
          </a:xfrm>
          <a:prstGeom prst="ellipse">
            <a:avLst/>
          </a:prstGeom>
          <a:solidFill>
            <a:srgbClr val="151B45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41248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657600"/>
            <a:ext cx="2011680" cy="457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</a:t>
            </a:r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SEDS 537 · Machine Learning · Term Project · Spring 2026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· BiLSTM · mBERT full fine-tuning · mBERT + adapters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 / 8 June 2026, 16:30  ·  12-minute talk + 2–3 min Q&amp;A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Multilingual Toxic Comment Classification</dc:title>
  <dc:subject>PptxGenJS Presentation</dc:subject>
  <dc:creator>SEDS 537 Term Project</dc:creator>
  <cp:lastModifiedBy>SEDS 537 Term Project</cp:lastModifiedBy>
  <cp:revision>1</cp:revision>
  <dcterms:created xsi:type="dcterms:W3CDTF">2026-06-01T09:25:13Z</dcterms:created>
  <dcterms:modified xsi:type="dcterms:W3CDTF">2026-06-01T09:25:13Z</dcterms:modified>
</cp:coreProperties>
</file>