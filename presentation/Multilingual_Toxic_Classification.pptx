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Georg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Georgia"/>
              </a:rPr>
              <a:t>Cross-lingual AUC by model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Multilingual AUC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LogReg</c:v>
                  </c:pt>
                  <c:pt idx="1">
                    <c:v>Naive Bayes</c:v>
                  </c:pt>
                  <c:pt idx="2">
                    <c:v>SVM</c:v>
                  </c:pt>
                  <c:pt idx="3">
                    <c:v>BiLSTM</c:v>
                  </c:pt>
                  <c:pt idx="4">
                    <c:v>mBERT full</c:v>
                  </c:pt>
                  <c:pt idx="5">
                    <c:v>mBERT+Adapter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0.627</c:v>
                </c:pt>
                <c:pt idx="1">
                  <c:v>0.605</c:v>
                </c:pt>
                <c:pt idx="2">
                  <c:v>0.582</c:v>
                </c:pt>
                <c:pt idx="3">
                  <c:v>0.601</c:v>
                </c:pt>
                <c:pt idx="4">
                  <c:v>0.848</c:v>
                </c:pt>
                <c:pt idx="5">
                  <c:v>0.826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430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430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Georg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Georgia"/>
              </a:rPr>
              <a:t>AUC by language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TF-IDF LogReg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Turkish</c:v>
                  </c:pt>
                  <c:pt idx="1">
                    <c:v>Spanish</c:v>
                  </c:pt>
                  <c:pt idx="2">
                    <c:v>Italian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0.652</c:v>
                </c:pt>
                <c:pt idx="1">
                  <c:v>0.614</c:v>
                </c:pt>
                <c:pt idx="2">
                  <c:v>0.6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mBERT + Adapter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Turkish</c:v>
                  </c:pt>
                  <c:pt idx="1">
                    <c:v>Spanish</c:v>
                  </c:pt>
                  <c:pt idx="2">
                    <c:v>Italian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0.89</c:v>
                </c:pt>
                <c:pt idx="1">
                  <c:v>0.822</c:v>
                </c:pt>
                <c:pt idx="2">
                  <c:v>0.772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430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430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4304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1463040"/>
            <a:ext cx="3840480" cy="3840480"/>
          </a:xfrm>
          <a:prstGeom prst="ellipse">
            <a:avLst/>
          </a:prstGeom>
          <a:solidFill>
            <a:srgbClr val="151B45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0" y="-640080"/>
            <a:ext cx="2194560" cy="21945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SEDS 537 · MACHINE LEARNING · TERM PROJECT · SPRING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Multilingual Toxic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Comment Classification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cross-lingual gap with parameter-efficient mBERT adapters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011680" cy="457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617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baselines</a:t>
            </a:r>
            <a:pPr indent="0" marL="0">
              <a:buNone/>
            </a:pPr>
            <a:r>
              <a:rPr lang="en-US" sz="15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</a:t>
            </a:r>
            <a:pPr indent="0" marL="0">
              <a:buNone/>
            </a:pPr>
            <a:r>
              <a:rPr lang="en-US" sz="15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mBERT fine-tuning &amp; adapters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1 / 8 June 2026, 16:30  ·  12 min talk + Q&amp;A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&amp; WHY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Definition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54480"/>
            <a:ext cx="6126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an online comment, decide whether it is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non-toxic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binary classification problem.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25880" y="2468880"/>
            <a:ext cx="6126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43044"/>
                </a:solidFill>
              </a:rPr>
              <a:t>Platforms host comments in dozens of languages, but labelled toxicity data is overwhelmingly English.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43044"/>
                </a:solidFill>
              </a:rPr>
              <a:t>Hand-labelling every language is expensive and slow — moderation must still work everywhere.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43044"/>
                </a:solidFill>
              </a:rPr>
              <a:t>Goal: train on English only, then generalise to languages never seen during training (cross-lingual transfer).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863840" y="155448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863840" y="169164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223K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7863840" y="23317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training comments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63840" y="30632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863840" y="320040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langs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863840" y="38404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unseen: Turkish · Spanish · Italian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863840" y="45720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863840" y="470916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7863840" y="53492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— a strongly imbalanced target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HARD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Cross-Lingual Challenge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an English-trained model struggle in Turkish or Spanish?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25880" y="2148840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5880" y="2148840"/>
            <a:ext cx="9144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2402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mismatch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2221992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Word-level models learn an English vocabulary. Turkish / Spanish words are simply unknown tokens — the signal disappears.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325880" y="3172968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5880" y="3172968"/>
            <a:ext cx="9144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264408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shared meaning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54880" y="324612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and LSTM treat 'idiot' and 'aptal' as unrelated symbols. They cannot transfer what 'toxic' looks like across languages.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325880" y="4197096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5880" y="4197096"/>
            <a:ext cx="9144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4288536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scripts &amp; morphology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54880" y="4270248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Diacritics, agglutination and word order differ — surface features learned on English do not carry over.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325880" y="5221224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E6F7F4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5880" y="5221224"/>
            <a:ext cx="91440" cy="9144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1600200" y="531266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hypothesis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754880" y="5294376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multilingual pretrained encoder (mBERT) already maps all languages into one shared space, so toxicity learned in English transfers.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JIGSAW MULTILINGUAL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&amp; Examples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54480"/>
            <a:ext cx="50749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44"/>
                </a:solidFill>
              </a:rPr>
              <a:t>Source: Jigsaw Multilingual Toxic Comment Classification (Kaggle).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44"/>
                </a:solidFill>
              </a:rPr>
              <a:t>Train: ~223K English comments, binary label.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44"/>
                </a:solidFill>
              </a:rPr>
              <a:t>Validation: ~8K labelled multilingual (tr 3.0K · es 2.5K · it 2.5K).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44"/>
                </a:solidFill>
              </a:rPr>
              <a:t>Test: ~63K multilingual but unlabelled — so labelled cross-lingual evaluation uses the validation split.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29400" y="1554480"/>
            <a:ext cx="49834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29400" y="1554480"/>
            <a:ext cx="91440" cy="1078992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0" y="16459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NON-TOXIC · 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0" y="1901952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“You, sir, are my hero. Any chance you remember what page that’s on?”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29400" y="2743200"/>
            <a:ext cx="49834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29400" y="2743200"/>
            <a:ext cx="91440" cy="10789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0" y="283464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· en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0" y="3090672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“COCKS∗∗∗ER, before you piss around on my work…”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29400" y="3931920"/>
            <a:ext cx="49834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29400" y="3931920"/>
            <a:ext cx="91440" cy="10789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402336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· it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4279392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“Incazzato come sei, non sei pure tu un sockpuppet…”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629400" y="5120640"/>
            <a:ext cx="49834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29400" y="5120640"/>
            <a:ext cx="91440" cy="1078992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521208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NON-TOXIC · 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858000" y="5468112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“Muchas gracias, LlamaAl. Sí que parece útil…”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29400" y="6355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shortened / lightly censored for the slide.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&amp; WHY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Approach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ladder of models, from simple to powerful — each answers a question the previous one could not.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325880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5880" y="2194560"/>
            <a:ext cx="2542032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417320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TF-IDF baselines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2295144" y="274320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295144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17320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· NB · SVM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527048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do classic word-count models get? Establishes the floor.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032504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32504" y="2194560"/>
            <a:ext cx="2542032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123944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BiLSTM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001768" y="274320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5001768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123944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NET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33672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modelling word order help? A deep-learning baseline.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739128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39128" y="2194560"/>
            <a:ext cx="2542032" cy="65836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6830568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mBERT (full)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7708392" y="2743200"/>
            <a:ext cx="603504" cy="60350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8" name="Text 26"/>
          <p:cNvSpPr/>
          <p:nvPr/>
        </p:nvSpPr>
        <p:spPr>
          <a:xfrm>
            <a:off x="7708392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830568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ALL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40296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multilingual transformer transfer? The strong baseline.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445752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45752" y="2194560"/>
            <a:ext cx="2542032" cy="65836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3" name="Text 31"/>
          <p:cNvSpPr/>
          <p:nvPr/>
        </p:nvSpPr>
        <p:spPr>
          <a:xfrm>
            <a:off x="9537192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mBERT + Adapters</a:t>
            </a:r>
            <a:endParaRPr lang="en-US" sz="1550" dirty="0"/>
          </a:p>
        </p:txBody>
      </p:sp>
      <p:sp>
        <p:nvSpPr>
          <p:cNvPr id="34" name="Shape 32"/>
          <p:cNvSpPr/>
          <p:nvPr/>
        </p:nvSpPr>
        <p:spPr>
          <a:xfrm>
            <a:off x="10415016" y="2743200"/>
            <a:ext cx="603504" cy="60350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5" name="Text 33"/>
          <p:cNvSpPr/>
          <p:nvPr/>
        </p:nvSpPr>
        <p:spPr>
          <a:xfrm>
            <a:off x="10415016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9537192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METHOD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46920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power for ~1% of the cost? Our parameter-efficient method.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25880" y="54864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 →  increasing capacity &amp; cross-lingual ability  →  efficient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PRIMER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Models Work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25880" y="1600200"/>
            <a:ext cx="3456432" cy="45262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600200"/>
            <a:ext cx="3456432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1325880" y="2148840"/>
            <a:ext cx="3456432" cy="320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1664208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TF-IDF + classifier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3040" y="2121408"/>
            <a:ext cx="3182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 OF WORDS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81912" y="2697480"/>
            <a:ext cx="299923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Counts how often each word appears, weighted by rarity.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Ignores word order and meaning.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Vocabulary is English — non-English words vanish.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Fast, strong on English, no transfer.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946904" y="1600200"/>
            <a:ext cx="3456432" cy="45262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46904" y="1600200"/>
            <a:ext cx="3456432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7" name="Shape 15"/>
          <p:cNvSpPr/>
          <p:nvPr/>
        </p:nvSpPr>
        <p:spPr>
          <a:xfrm>
            <a:off x="4946904" y="2148840"/>
            <a:ext cx="3456432" cy="320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5084064" y="1664208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BiLSTM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084064" y="2121408"/>
            <a:ext cx="3182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NET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02936" y="2697480"/>
            <a:ext cx="299923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Reads the sentence left→right and right→left.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Captures word order &amp; local context.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Embeddings learned from English only.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Better English, still no real transfer.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567928" y="1600200"/>
            <a:ext cx="3456432" cy="45262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67928" y="1600200"/>
            <a:ext cx="3456432" cy="868680"/>
          </a:xfrm>
          <a:prstGeom prst="roundRect">
            <a:avLst>
              <a:gd name="adj" fmla="val 8421"/>
            </a:avLst>
          </a:prstGeom>
          <a:solidFill>
            <a:srgbClr val="00A896"/>
          </a:solidFill>
          <a:ln/>
        </p:spPr>
      </p:sp>
      <p:sp>
        <p:nvSpPr>
          <p:cNvPr id="23" name="Shape 21"/>
          <p:cNvSpPr/>
          <p:nvPr/>
        </p:nvSpPr>
        <p:spPr>
          <a:xfrm>
            <a:off x="8567928" y="2148840"/>
            <a:ext cx="3456432" cy="3200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8705088" y="1664208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mBERT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705088" y="2121408"/>
            <a:ext cx="3182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TRANSFORMER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823960" y="2697480"/>
            <a:ext cx="299923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Transformer pretrained on 104 languages.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Self-attention links every word to every other.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All languages share one embedding space.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Toxicity learned in English transfers out.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PARAMETER-EFFICIENT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Method: Adapter Tuning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updating all ~178M weights of mBERT, we freeze the encoder and insert tiny trainable bottleneck modules.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25880" y="2194560"/>
            <a:ext cx="6035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A Houlsby adapter = down-projection → GELU → up-projection, with a residual skip.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Two adapters added per transformer layer; near-zero init so training starts from the pretrained model.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Frozen: all mBERT weights.  Trainable: adapters + LayerNorm + classifier head.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Result: only ~1.34% of parameters are trained — far cheaper to store and adapt.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0" y="2148840"/>
            <a:ext cx="3840480" cy="37033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0" y="22860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Adapter block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0" y="2697480"/>
            <a:ext cx="2560320" cy="4572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697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Up-projection ↑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412480" y="3291840"/>
            <a:ext cx="2560320" cy="411480"/>
          </a:xfrm>
          <a:prstGeom prst="roundRect">
            <a:avLst>
              <a:gd name="adj" fmla="val 11111"/>
            </a:avLst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32918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GELU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412480" y="3840480"/>
            <a:ext cx="2560320" cy="4572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0" y="3840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Down-projection ↓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412480" y="4617720"/>
            <a:ext cx="2560320" cy="457200"/>
          </a:xfrm>
          <a:prstGeom prst="roundRect">
            <a:avLst>
              <a:gd name="adj" fmla="val 10000"/>
            </a:avLst>
          </a:prstGeom>
          <a:solidFill>
            <a:srgbClr val="94A3B8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46177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hidden state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0" y="52120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residual skip connection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0" y="3154680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</a:rPr>
              <a:t>↑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0" y="3749040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</a:rPr>
              <a:t>↑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0" y="4297680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</a:rPr>
              <a:t>↑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Experimental Design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25880" y="164592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64592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1508760" y="164592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Splits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81912" y="217627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80/20 English split for in-language test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Full multilingual validation for transfer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Validation order preserved for error analysis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46904" y="164592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6904" y="164592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5129784" y="164592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Imbalance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02936" y="217627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pos_weight in BCEWithLogitsLoss (~9.5×)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Decision threshold tuned on val F1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Adapter threshold = 0.05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567928" y="164592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67928" y="164592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750808" y="164592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stopping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823960" y="217627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Keep checkpoint with best multilingual-val AUC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Word models overfit English — peak early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Avoids reporting a degraded final epoch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325880" y="388620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5880" y="388620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1508760" y="388620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Metrics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581912" y="441655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AUC-ROC, F1, accuracy, precision, recall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Per-language breakdown (tr / es / it)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Trainable params + ms / sample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946904" y="388620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46904" y="388620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5129784" y="388620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Cleaning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202936" y="441655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Aggressive ASCII clean → TF-IDF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Unicode-preserving clean → LSTM / mBERT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by design, to expose the gap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567928" y="388620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67928" y="388620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8750808" y="388620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Hardware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823960" y="441655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MacBook Air, Apple Silicon (MPS)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Subsampled training for a few-hour budget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PyTorch + HuggingFace + scikit-learn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Findings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25880" y="1691640"/>
          <a:ext cx="6126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34440"/>
                <a:gridCol w="1463040"/>
                <a:gridCol w="10515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 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Multilingual 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Trainable params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LogReg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Naive Bayes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SVM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BiLSTM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mBERT (full)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mBERT + Adapter (ours)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1325880" y="4572000"/>
            <a:ext cx="6126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&amp; LSTM collapse on unseen languages (~0.6 AUC). mBERT + adapters jumps to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large transfer gain at ~1% of the cost.</a:t>
            </a:r>
            <a:endParaRPr lang="en-US" sz="15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680960" y="169164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Per-Language Transfer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1325880" y="1737360"/>
          <a:ext cx="61264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726680" y="2011680"/>
            <a:ext cx="39776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Adapters lift every language well above the classical baseline.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Turkish gains the most (0.65 → 0.89) despite being typologically far from English.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Italian is hardest (0.77) — likely fewer toxic cues survive transfer.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Confirms mBERT's shared space carries toxicity signal across scripts and families.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PUNCHLINE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Efficiency: Adapters vs Full Fine-Tuning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 match full fine-tuning's transfer while training a tiny fraction of the model.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325880" y="2286000"/>
            <a:ext cx="254203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325880" y="2286000"/>
            <a:ext cx="2542032" cy="10972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2606040"/>
            <a:ext cx="2542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1.34%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1463040" y="3474720"/>
            <a:ext cx="2267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parameters trained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08760" y="3931920"/>
            <a:ext cx="21762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100% for full fine-tuning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032504" y="2286000"/>
            <a:ext cx="254203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032504" y="2286000"/>
            <a:ext cx="2542032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4032504" y="2606040"/>
            <a:ext cx="2542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2.4M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4169664" y="3474720"/>
            <a:ext cx="2267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trainable weights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15384" y="3931920"/>
            <a:ext cx="21762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~178M total in mBERT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739128" y="2286000"/>
            <a:ext cx="254203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39128" y="2286000"/>
            <a:ext cx="2542032" cy="1097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6739128" y="2606040"/>
            <a:ext cx="2542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~0.83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876288" y="3474720"/>
            <a:ext cx="2267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AUC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22008" y="3931920"/>
            <a:ext cx="21762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par with full fine-tuning (~0.85)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445752" y="2286000"/>
            <a:ext cx="254203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445752" y="2286000"/>
            <a:ext cx="2542032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9445752" y="2606040"/>
            <a:ext cx="2542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16.9 ms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9582912" y="3474720"/>
            <a:ext cx="2267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sample (MPS)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628632" y="3931920"/>
            <a:ext cx="21762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on a laptop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325880" y="51206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5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frozen mBERT can be specialised per task by swapping a 2 MB adapter — cheaper to store, train and deploy than a full copy.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&amp; WRONG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Analysis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mBERT-adapter predictions on the multilingual validation set (threshold 0.05).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325880" y="205740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1E84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5880" y="2057400"/>
            <a:ext cx="109728" cy="20116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1671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True Positive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63440" y="218541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· p = 0.98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00200" y="260604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“Incazzato come sei, non sei pure tu un sockpuppet…”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56616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correctly flagged — transfer works.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629400" y="205740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9400" y="2057400"/>
            <a:ext cx="109728" cy="20116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6903720" y="21671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 False Negative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966960" y="218541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· p = 0.00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260604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“Supongo que eso de que eres un adicto al porno es un vandalismo…”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356616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toxic — subtle insult, low recall cost.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325880" y="429768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5880" y="4297680"/>
            <a:ext cx="109728" cy="20116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1600200" y="44074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 False Positive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663440" y="442569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· p = 0.99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00200" y="484632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“Forse stupida; vedo che riesci a editare da mobile, come fai?”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600200" y="580644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over-flagged — 'stupida' triggers it.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629400" y="429768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1E84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29400" y="4297680"/>
            <a:ext cx="109728" cy="20116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30" name="Text 28"/>
          <p:cNvSpPr/>
          <p:nvPr/>
        </p:nvSpPr>
        <p:spPr>
          <a:xfrm>
            <a:off x="6903720" y="44074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True Negative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966960" y="442569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· p = 0.00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03720" y="484632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“Muchas gracias, LlamaAl. Sí que parece útil…”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903720" y="580644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correctly passed.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Concluding Remarks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71600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103120" y="1691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Cross-lingual transfer is real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103120" y="2075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multilingual encoder generalises toxicity from English to unseen languages; word-count and LSTM models cannot.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1371600" y="28803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103120" y="2834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Adapters are the sweet spot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103120" y="3218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~1.34% of parameters reach full-fine-tuning-level transfer (~0.83 AUC) — the project's main result.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1371600" y="4023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0" y="4023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103120" y="3977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evaluation matters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03120" y="4361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Per-language metrics, threshold tuning and best-checkpoint selection prevent over-optimistic numbers.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1371600" y="5166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1371600" y="5166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103120" y="5120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next steps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103120" y="5504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is modest under imbalance; the official test set is unlabelled. Future: adapter-size ablation, more languages, focal loss.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754880"/>
            <a:ext cx="3840480" cy="3840480"/>
          </a:xfrm>
          <a:prstGeom prst="ellipse">
            <a:avLst/>
          </a:prstGeom>
          <a:solidFill>
            <a:srgbClr val="151B45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41248" y="2971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68680" y="3657600"/>
            <a:ext cx="2011680" cy="457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</a:t>
            </a:r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SEDS 537 · Machine Learning · Term Project · Spring 2026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8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· BiLSTM · mBERT full fine-tuning · mBERT + adapters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1 / 8 June 2026, 16:30  ·  12-minute talk + 2–3 min Q&amp;A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Multilingual Toxic Comment Classification</dc:title>
  <dc:subject>PptxGenJS Presentation</dc:subject>
  <dc:creator>SEDS 537 Term Project</dc:creator>
  <cp:lastModifiedBy>SEDS 537 Term Project</cp:lastModifiedBy>
  <cp:revision>1</cp:revision>
  <dcterms:created xsi:type="dcterms:W3CDTF">2026-05-31T22:30:29Z</dcterms:created>
  <dcterms:modified xsi:type="dcterms:W3CDTF">2026-05-31T22:30:29Z</dcterms:modified>
</cp:coreProperties>
</file>