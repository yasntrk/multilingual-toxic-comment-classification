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Cross-lingual AUC by model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Multilingual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LogReg</c:v>
                  </c:pt>
                  <c:pt idx="1">
                    <c:v>Naive Bayes</c:v>
                  </c:pt>
                  <c:pt idx="2">
                    <c:v>SVM</c:v>
                  </c:pt>
                  <c:pt idx="3">
                    <c:v>BiLSTM</c:v>
                  </c:pt>
                  <c:pt idx="4">
                    <c:v>mBERT full</c:v>
                  </c:pt>
                  <c:pt idx="5">
                    <c:v>mBERT+Adapter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0.627</c:v>
                </c:pt>
                <c:pt idx="1">
                  <c:v>0.605</c:v>
                </c:pt>
                <c:pt idx="2">
                  <c:v>0.582</c:v>
                </c:pt>
                <c:pt idx="3">
                  <c:v>0.601</c:v>
                </c:pt>
                <c:pt idx="4">
                  <c:v>0.848</c:v>
                </c:pt>
                <c:pt idx="5">
                  <c:v>0.826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Modele göre çok dilli AUC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Çok dilli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LojReg</c:v>
                  </c:pt>
                  <c:pt idx="1">
                    <c:v>Naive Bayes</c:v>
                  </c:pt>
                  <c:pt idx="2">
                    <c:v>SVM</c:v>
                  </c:pt>
                  <c:pt idx="3">
                    <c:v>BiLSTM</c:v>
                  </c:pt>
                  <c:pt idx="4">
                    <c:v>mBERT tam</c:v>
                  </c:pt>
                  <c:pt idx="5">
                    <c:v>mBERT+Adapter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0.627</c:v>
                </c:pt>
                <c:pt idx="1">
                  <c:v>0.605</c:v>
                </c:pt>
                <c:pt idx="2">
                  <c:v>0.582</c:v>
                </c:pt>
                <c:pt idx="3">
                  <c:v>0.601</c:v>
                </c:pt>
                <c:pt idx="4">
                  <c:v>0.848</c:v>
                </c:pt>
                <c:pt idx="5">
                  <c:v>0.826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AUC by language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 LogReg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0.652</c:v>
                </c:pt>
                <c:pt idx="1">
                  <c:v>0.614</c:v>
                </c:pt>
                <c:pt idx="2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mBERT + Adapter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0.89</c:v>
                </c:pt>
                <c:pt idx="1">
                  <c:v>0.822</c:v>
                </c:pt>
                <c:pt idx="2">
                  <c:v>0.772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30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46304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-640080"/>
            <a:ext cx="2194560" cy="21945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 Toxic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Comment Classification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cross-lingual gap with parameter-efficient mBERT adapters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baselines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 fine-tuning &amp; adapters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 min talk + Q&amp;A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5448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online comment, decide whether it is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binary classification problem.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25880" y="246888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Platforms host comments in dozens of languages, but labelled toxicity data is overwhelmingly English.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Hand-labelling every language is expensive and slow — moderation must still work everywhere.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Goal: train on English only, then generalise to languages never seen during training (cross-lingual transfer).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63840" y="155448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223K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863840" y="2331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training comments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0" y="30632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32004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langs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863840" y="3840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unseen: Turkish · Spanish · Italian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63840" y="45720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63840" y="47091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863840" y="5349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— a strongly imbalanced target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Cross-Lingual Challenge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an English-trained model struggle in Turkish or Spanish?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5880" y="2148840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48840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2402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mismatch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221992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Word-level models learn an English vocabulary. Turkish / Spanish words are simply unknown tokens — the signal disappears.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25880" y="3172968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5880" y="3172968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26440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shared meaning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0" y="324612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and LSTM treat 'idiot' and 'aptal' as unrelated symbols. They cannot transfer what 'toxic' looks like across languages.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25880" y="4197096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5880" y="4197096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4288536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scripts &amp; morphology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4270248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Diacritics, agglutination and word order differ — surface features learned on English do not carry over.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325880" y="5221224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E6F7F4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5221224"/>
            <a:ext cx="91440" cy="9144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531266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hypothesis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54880" y="5294376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pretrained encoder (mBERT) already maps all languages into one shared space, so toxicity learned in English transfers.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JIGSAW MULTILINGUAL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Examples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54480"/>
            <a:ext cx="50749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Source: Jigsaw Multilingual Toxic Comment Classification (Kaggle).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Train: ~223K English comments, binary label.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Validation: ~8K labelled multilingual (tr 3.0K · es 2.5K · it 2.5K).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Test: ~63K multilingual but unlabelled — so labelled cross-lingual evaluation uses the validation split.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29400" y="155448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29400" y="1554480"/>
            <a:ext cx="91440" cy="107899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0" y="16459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190195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“You, sir, are my hero. Any chance you remember what page that’s on?”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29400" y="274320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2743200"/>
            <a:ext cx="91440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283464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0" y="309067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“COCKS∗∗∗ER, before you piss around on my work…”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29400" y="393192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3931920"/>
            <a:ext cx="91440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402336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it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427939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512064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5120640"/>
            <a:ext cx="91440" cy="107899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521208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58000" y="546811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6355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shortened / lightly censored for the slide.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Approach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ladder of models, from simple to powerful — each answers a question the previous one could not.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baselines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2295144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295144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· NB · SVM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27048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 classic word-count models get? Establishes the floor.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32504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32504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123944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01768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001768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33672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modelling word order help? A deep-learning baseline.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39128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39128" y="2194560"/>
            <a:ext cx="2542032" cy="6583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830568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(full)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7708392" y="2743200"/>
            <a:ext cx="603504" cy="6035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7708392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830568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ALL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0296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multilingual transformer transfer? The strong baseline.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445752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45752" y="2194560"/>
            <a:ext cx="2542032" cy="6583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9537192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+ Adapters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10415016" y="2743200"/>
            <a:ext cx="603504" cy="6035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5" name="Text 33"/>
          <p:cNvSpPr/>
          <p:nvPr/>
        </p:nvSpPr>
        <p:spPr>
          <a:xfrm>
            <a:off x="10415016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537192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46920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power for ~1% of the cost? Our parameter-efficient method.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4864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→  increasing capacity &amp; cross-lingual ability  →  efficient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PRIMER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Models Work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148840"/>
            <a:ext cx="3456432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+ classifier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OF WORDS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81912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Counts how often each word appears, weighted by rarity.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Ignores word order and meaning.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Vocabulary is English — non-English words vanish.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Fast, strong on English, no transfer.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946904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46904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7" name="Shape 15"/>
          <p:cNvSpPr/>
          <p:nvPr/>
        </p:nvSpPr>
        <p:spPr>
          <a:xfrm>
            <a:off x="4946904" y="2148840"/>
            <a:ext cx="3456432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5084064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84064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02936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Reads the sentence left→right and right→left.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Captures word order &amp; local context.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Embeddings learned from English only.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Better English, still no real transfer.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567928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67928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0A896"/>
          </a:solidFill>
          <a:ln/>
        </p:spPr>
      </p:sp>
      <p:sp>
        <p:nvSpPr>
          <p:cNvPr id="23" name="Shape 21"/>
          <p:cNvSpPr/>
          <p:nvPr/>
        </p:nvSpPr>
        <p:spPr>
          <a:xfrm>
            <a:off x="8567928" y="2148840"/>
            <a:ext cx="3456432" cy="320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705088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705088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TRANSFORMER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23960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Transformer pretrained on 104 languages.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Self-attention links every word to every other.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All languages share one embedding space.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Toxicity learned in English transfers out.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 IDEA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Method: Adapter Tuning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mBERT as a huge brain already trained on 104 languages — about </a:t>
            </a:r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 million tiny “knobs.”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25880" y="2148840"/>
            <a:ext cx="60807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The usual way (full fine-tuning) re-tunes ALL 178M knobs for our task — slow, and you end up storing a whole new copy of the model.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Adapters: we FREEZE the big brain and snap in a few small new layers inside it.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We then train ONLY those small layers — about 1 knob in every 75 (1.34%).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The pretrained knowledge stays intact; the adapters just nudge it toward toxicity detection.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726680" y="2011680"/>
            <a:ext cx="39319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2668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actually trains?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2651760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E8EDF5"/>
          </a:solidFill>
          <a:ln w="12700">
            <a:solidFill>
              <a:srgbClr val="B9C4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724912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 encoder · 178M weights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FROZEN (98.66%)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7532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5068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925068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22604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22604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0060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800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head (trained)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26680" y="5394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trained (1.34%)   ·   grey = frozen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Design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81912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80/20 English split for in-language test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Full multilingual validation for transfer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Validation order preserved for error analysis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46904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6904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129784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Imbalance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2936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Toxic is rare — weight it ~9.5× in the loss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Tune the decision cut-off, not just 0.5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so we don't just predict 'clean' for everything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567928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7928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750808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stopping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823960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Keep the epoch with best multilingual 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Word models overfit English and peak early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avoids reporting a worse, later epoch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325880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5880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1508760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81912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AUC-ROC, F1, accuracy, precision, recall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Per-language breakdown (tr / es / it)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Trainable params + ms / sample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46904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04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5129784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Cleaning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02936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Aggressive ASCII clean → TF-IDF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Unicode-preserving clean → LSTM / mBERT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by design, to expose the gap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67928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67928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750808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Hardware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823960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MacBook Air, Apple Silicon (MPS)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Subsampled training for a few-hour budget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PyTorch + HuggingFace + scikit-learn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691640"/>
          <a:ext cx="6126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463040"/>
                <a:gridCol w="1051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Trainable 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LogReg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Naive Bayes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BiLSTM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(full)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+ Adapter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25880" y="452628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read here: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strong on English (~0.94–0.97). But on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languages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&amp; LSTM collapse to ~0.6 (little better than guessing), while mBERT + adapters holds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proving cross-lingual transfer, at ~1% of the training cost.</a:t>
            </a:r>
            <a:endParaRPr lang="en-US" sz="14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680960" y="169164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 (TÜRKÇE)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Temel Bulgular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691640"/>
          <a:ext cx="6126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463040"/>
                <a:gridCol w="1051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İngilizce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dilli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Eğitilen parametre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Lojistik Reg.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Naive Bayes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BiLSTM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(tam eğitim)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+ Adapter (bizim)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25880" y="452628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Buradan ne anlamalı: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model İngilizcede güçlü (~0.94–0.97). Ama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 görmediği dillerde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ve LSTM ~0.6’ya düşüyor (neredeyse rastgele), mBERT + adapter ise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’te kalıyor — diller arası transferi, eğitim maliyetinin ~%1’iyle kanıtlıyor.</a:t>
            </a:r>
            <a:endParaRPr lang="en-US" sz="14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680960" y="169164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Per-Language Transfer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1325880" y="173736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726680" y="2011680"/>
            <a:ext cx="3977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Adapters lift every language well above the classical baseline.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Turkish gains the most (0.65 → 0.89) despite being typologically far from English.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Italian is hardest (0.77) — likely fewer toxic cues survive transfer.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Confirms mBERT's shared space carries toxicity signal across scripts and families.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DIFFERENT?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3 vs 4: Full vs Adapter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81328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start from the very same pre-trained mBERT. The only difference is how much of it we train.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64008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2057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3 · Full Fine-Tuning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20840" y="2057400"/>
            <a:ext cx="5029200" cy="640080"/>
          </a:xfrm>
          <a:prstGeom prst="roundRect">
            <a:avLst>
              <a:gd name="adj" fmla="val 8571"/>
            </a:avLst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2057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4 · Adapter Tuning  (ours)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2807208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280720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trained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383280" y="2807208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mBERT's weights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720840" y="2807208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280720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trained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778240" y="2807208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small adapters + head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325880" y="3465576"/>
            <a:ext cx="5029200" cy="658368"/>
          </a:xfrm>
          <a:prstGeom prst="rect">
            <a:avLst/>
          </a:prstGeom>
          <a:solidFill>
            <a:srgbClr val="EEF3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08760" y="3465576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params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3465576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 (~178M)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720840" y="3465576"/>
            <a:ext cx="5029200" cy="658368"/>
          </a:xfrm>
          <a:prstGeom prst="rect">
            <a:avLst/>
          </a:prstGeom>
          <a:solidFill>
            <a:srgbClr val="E6F7F4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465576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params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778240" y="3465576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1.34%  (~2.4M)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325880" y="4123944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08760" y="4123944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per task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83280" y="4123944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~700 MB copy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720840" y="4123944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03720" y="4123944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per task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778240" y="4123944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 ~2 MB adapter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1325880" y="4782312"/>
            <a:ext cx="5029200" cy="658368"/>
          </a:xfrm>
          <a:prstGeom prst="rect">
            <a:avLst/>
          </a:prstGeom>
          <a:solidFill>
            <a:srgbClr val="EEF3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508760" y="4782312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AUC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~0.85  (slightly higher)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720840" y="4782312"/>
            <a:ext cx="5029200" cy="658368"/>
          </a:xfrm>
          <a:prstGeom prst="rect">
            <a:avLst/>
          </a:prstGeom>
          <a:solidFill>
            <a:srgbClr val="E6F7F4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03720" y="4782312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AUC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778240" y="4782312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~0.83  (on par)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1325880" y="5440680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08760" y="544068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speed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383280" y="5440680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heaviest — updates the whole network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720840" y="5440680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03720" y="544068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speed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778240" y="5440680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— 16.9 ms per comment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325880" y="6236208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short:  </a:t>
            </a:r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adapter reaches almost the same accuracy as full fine-tuning while training ~75× fewer weights — far cheaper to train, store and swap.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&amp; WRONG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Analysis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mBERT-adapter predictions on the multilingual validation set (threshold 0.05).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05740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Positive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correctly flagged — transfer works.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2940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205740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Negative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96696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“Supongo que eso de que eres un adicto al porno es un vandalismo…”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toxic — subtle insult, low recall cost.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2588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429768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Positive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6344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0.99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0020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“Forse stupida; vedo che riesci a editare da mobile, come fai?”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020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over-flagged — 'stupida' triggers it.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2940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29400" y="429768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0" name="Text 28"/>
          <p:cNvSpPr/>
          <p:nvPr/>
        </p:nvSpPr>
        <p:spPr>
          <a:xfrm>
            <a:off x="690372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Negative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96696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0372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0372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correctly passed.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Compare to Other Work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81328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the first to tackle multilingual toxicity. Here is how our laptop-scale result sits next to the literature.</a:t>
            </a:r>
            <a:endParaRPr lang="en-US" sz="15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2011680"/>
          <a:ext cx="10332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01168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/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Jigsaw Kaggle winners (2020)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XLM-R (large) + ensembles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test set · heavy GPUs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Published mBERT cross-lingual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fine-tuning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~0.80–0.85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idea to 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Houlsby et al. (2019), adapters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adapters on 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full  (−0.4%)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adapters ≈ full tuning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Ours: mBERT + adapter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adapters, English-only train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· 1.34% params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1325880" y="45720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The best public scores (~0.95) use far bigger models (XLM-R), many languages and ensembles — well beyond a laptop budget.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Our 0.83 lands in the same range as published mBERT cross-lingual results, even though we trained on English only.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Adapter studies (Houlsby 2019; Pfeiffer MAD-X 2020) report adapters matching full fine-tuning — exactly the pattern we see (0.83 vs 0.85).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325880" y="60350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test sets, model sizes and compute — shown for context, not a head-to-head ranking.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Concluding Remarks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7160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03120" y="1691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transfer is real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2075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encoder generalises toxicity from English to unseen languages; word-count and LSTM models cannot.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371600" y="28803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03120" y="2834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Adapters are the sweet spot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103120" y="3218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~1.34% of parameters reach full-fine-tuning-level transfer (~0.83 AUC) — the project's main result.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1371600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4023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103120" y="3977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evaluation matters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03120" y="4361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Per-language metrics, threshold tuning and best-checkpoint selection prevent over-optimistic numbers.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371600" y="5166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5166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103120" y="5120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next steps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103120" y="5504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modest under imbalance; the official test set is unlabelled. Future: adapter-size ablation, more languages, focal loss.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75488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65760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</a:t>
            </a:r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 BiLSTM · mBERT full fine-tuning · mBERT + adapters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12-minute talk + 2–3 min Q&amp;A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Multilingual Toxic Comment Classification</dc:title>
  <dc:subject>PptxGenJS Presentation</dc:subject>
  <dc:creator>SEDS 537 Term Project</dc:creator>
  <cp:lastModifiedBy>SEDS 537 Term Project</cp:lastModifiedBy>
  <cp:revision>1</cp:revision>
  <dcterms:created xsi:type="dcterms:W3CDTF">2026-05-31T22:56:15Z</dcterms:created>
  <dcterms:modified xsi:type="dcterms:W3CDTF">2026-05-31T22:56:15Z</dcterms:modified>
</cp:coreProperties>
</file>