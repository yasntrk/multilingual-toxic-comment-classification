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Cross-lingual AUC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Multilingual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LogReg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mBERT+Adapter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AUC by language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LogReg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0.652</c:v>
                </c:pt>
                <c:pt idx="1">
                  <c:v>0.614</c:v>
                </c:pt>
                <c:pt idx="2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mBERT + Adapter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0.89</c:v>
                </c:pt>
                <c:pt idx="1">
                  <c:v>0.822</c:v>
                </c:pt>
                <c:pt idx="2">
                  <c:v>0.772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30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-640080"/>
            <a:ext cx="2194560" cy="21945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Toxic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 Classification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cross-lingual gap with parameter-efficient mBERT adapters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baselines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fine-tuning &amp; adapters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 min talk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online comment, decide whether it is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binary classification problem.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46888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Platforms host comments in dozens of languages, but labelled toxicity data is overwhelmingly English.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Hand-labelling every language is expensive and slow — moderation must still work everywhere.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Goal: train on English only, then generalise to languages never seen during training (cross-lingual transfer).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63840" y="155448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863840" y="2331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training comments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30632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3200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langs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863840" y="3840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unseen: Turkish · Spanish · Italian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47091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863840" y="5349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— a strongly imbalanced target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Challenge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an English-trained model struggle in Turkish or Spanish?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80" y="2148840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4884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2402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mismatch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21992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Word-level models learn an English vocabulary. Turkish / Spanish words are simply unknown tokens — the signal disappears.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25880" y="3172968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5880" y="3172968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26440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shared meaning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and LSTM treat 'idiot' and 'aptal' as unrelated symbols. They cannot transfer what 'toxic' looks like across languages.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25880" y="4197096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4197096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4288536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scripts &amp; morphology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4270248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Diacritics, agglutination and word order differ — surface features learned on English do not carry over.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25880" y="5221224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E6F7F4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5221224"/>
            <a:ext cx="91440" cy="9144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531266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hypothesis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54880" y="5294376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pretrained encoder (mBERT) already maps all languages into one shared space, so toxicity learned in English transfers.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JIGSAW MULTILINGUAL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Examples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50749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Source: Jigsaw Multilingual Toxic Comment Classification (Kaggle).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Train: ~223K English comments, binary label.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Validation: ~8K labelled multilingual (tr 3.0K · es 2.5K · it 2.5K).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Test: ~63K multilingual but unlabelled — so labelled cross-lingual evaluation uses the validation split.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5448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1554480"/>
            <a:ext cx="91440" cy="107899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1645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190195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“You, sir, are my hero. Any chance you remember what page that’s on?”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274320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2743200"/>
            <a:ext cx="91440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8346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09067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“COCKS∗∗∗ER, before you piss around on my work…”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29400" y="393192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3931920"/>
            <a:ext cx="91440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402336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4279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512064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5120640"/>
            <a:ext cx="91440" cy="107899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521208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58000" y="546811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355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shortened / lightly censored for the slide.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ladder of models, from simple to powerful — each answers a question the previous one could not.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baselines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295144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NB · SVM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27048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classic word-count models get? Establishes the floor.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32504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32504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123944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01768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33672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modelling word order help? A deep-learning baseline.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39128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39128" y="2194560"/>
            <a:ext cx="2542032" cy="6583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830568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(full)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7708392" y="2743200"/>
            <a:ext cx="603504" cy="6035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7708392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30568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0296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multilingual transformer transfer? The strong baseline.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445752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45752" y="2194560"/>
            <a:ext cx="2542032" cy="6583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9537192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+ Adapters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10415016" y="2743200"/>
            <a:ext cx="603504" cy="6035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10415016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537192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46920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power for ~1% of the cost? Our parameter-efficient method.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4864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→  increasing capacity &amp; cross-lingual ability  →  efficient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PRIMER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Models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148840"/>
            <a:ext cx="3456432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+ classifier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 WORDS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81912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Counts how often each word appears, weighted by rarity.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Ignores word order and meaning.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Vocabulary is English — non-English words vanish.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Fast, strong on English, no transfer.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46904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46904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Shape 15"/>
          <p:cNvSpPr/>
          <p:nvPr/>
        </p:nvSpPr>
        <p:spPr>
          <a:xfrm>
            <a:off x="4946904" y="2148840"/>
            <a:ext cx="3456432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084064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84064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Reads the sentence left→right and right→left.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Captures word order &amp; local context.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Embeddings learned from English only.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Better English, still no real transfer.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67928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67928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0A896"/>
          </a:solidFill>
          <a:ln/>
        </p:spPr>
      </p:sp>
      <p:sp>
        <p:nvSpPr>
          <p:cNvPr id="23" name="Shape 21"/>
          <p:cNvSpPr/>
          <p:nvPr/>
        </p:nvSpPr>
        <p:spPr>
          <a:xfrm>
            <a:off x="8567928" y="2148840"/>
            <a:ext cx="3456432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705088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705088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TRANSFORMER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23960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Transformer pretrained on 104 languages.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Self-attention links every word to every other.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All languages share one embedding space.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Toxicity learned in English transfers out.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Method: Adapter 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updating all ~178M weights of mBERT, we freeze the encoder and insert tiny trainable bottleneck modules.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2194560"/>
            <a:ext cx="6035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 Houlsby adapter = down-projection → GELU → up-projection, with a residual skip.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Two adapters added per transformer layer; near-zero init so training starts from the pretrained model.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Frozen: all mBERT weights.  Trainable: adapters + LayerNorm + classifier head.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Result: only ~1.34% of parameters are trained — far cheaper to store and adapt.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0" y="214884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0" y="2286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 block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0" y="269748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697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Up-projection 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412480" y="3291840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32918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12480" y="384048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3840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Down-projection ↓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412480" y="461772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94A3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4617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hidden state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0" y="52120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residual skip connection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315468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</a:rPr>
              <a:t>↑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0" y="374904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</a:rPr>
              <a:t>↑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429768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</a:rPr>
              <a:t>↑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Design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81912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80/20 English split for in-language test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Full multilingual validation for transfer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Validation order preserved for error analysis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46904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6904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129784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Imbalance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2936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pos_weight in BCEWithLogitsLoss (~9.5×)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Decision threshold tuned on val F1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Adapter threshold = 0.05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67928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7928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750808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stopping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23960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Keep checkpoint with best multilingual-val AUC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Word models overfit English — peak early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Avoids reporting a degraded final epoch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325880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5880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508760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81912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AUC-ROC, F1, accuracy, precision, recall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Per-language breakdown (tr / es / it)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Trainable params + ms / sample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46904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04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129784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02936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Aggressive ASCII clean → TF-IDF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Unicode-preserving clean → LSTM / mBERT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by design, to expose the gap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67928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7928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750808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23960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MacBook Air, Apple Silicon (MPS)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Subsampled training for a few-hour budget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PyTorch + HuggingFace + scikit-learn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463040"/>
                <a:gridCol w="1051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 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7200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&amp; LSTM collapse on unseen languages (~0.6 AUC). mBERT + adapters jumps to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large transfer gain at ~1% of the cost.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Per-Language Transfer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325880" y="173736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2011680"/>
            <a:ext cx="3977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Adapters lift every language well above the classical baseline.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Turkish gains the most (0.65 → 0.89) despite being typologically far from English.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Italian is hardest (0.77) — likely fewer toxic cues survive transfer.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Confirms mBERT's shared space carries toxicity signal across scripts and families.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Efficiency: Adapters vs Full Fine-Tuning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match full fine-tuning's transfer while training a tiny fraction of the model.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25880" y="2286000"/>
            <a:ext cx="2542032" cy="1097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1.34%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463040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parameters trained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100% for full fine-tuning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32504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032504" y="2286000"/>
            <a:ext cx="2542032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032504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2.4M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169664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weights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15384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~178M total in mBERT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39128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39128" y="2286000"/>
            <a:ext cx="2542032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739128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~0.83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876288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22008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par with full fine-tuning (~0.85)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45752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445752" y="2286000"/>
            <a:ext cx="2542032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9445752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16.9 ms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9582912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sample (MPS)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628632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on a laptop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25880" y="5120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5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mBERT can be specialised per task by swapping a 2 MB adapter — cheaper to store, train and deploy than a full copy.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&amp; WRONG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mBERT-adapter predictions on the multilingual validation set (threshold 0.05).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05740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Positive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correctly flagged — transfer works.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2940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205740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Negative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96696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“Supongo que eso de que eres un adicto al porno es un vandalismo…”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toxic — subtle insult, low recall cost.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2588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429768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Positive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6344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0.99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“Forse stupida; vedo che riesci a editare da mobile, come fai?”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020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over-flagged — 'stupida' triggers it.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429768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Negative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9669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0372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correctly passed.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Concluding Remarks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7160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03120" y="1691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transfer is real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2075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encoder generalises toxicity from English to unseen languages; word-count and LSTM models cannot.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371600" y="2880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03120" y="2834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Adapters are the sweet spot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103120" y="3218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~1.34% of parameters reach full-fine-tuning-level transfer (~0.83 AUC) — the project's main result.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37160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03120" y="3977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evaluation matters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03120" y="4361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Per-language metrics, threshold tuning and best-checkpoint selection prevent over-optimistic numbers.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371600" y="5166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5166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103120" y="5120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next steps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103120" y="5504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modest under imbalance; the official test set is unlabelled. Future: adapter-size ablation, more languages, focal loss.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</a:t>
            </a:r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BiLSTM · mBERT full fine-tuning · mBERT + adapters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12-minute talk + 2–3 min Q&amp;A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Toxic Comment Classification</dc:title>
  <dc:subject>PptxGenJS Presentation</dc:subject>
  <dc:creator>SEDS 537 Term Project</dc:creator>
  <cp:lastModifiedBy>SEDS 537 Term Project</cp:lastModifiedBy>
  <cp:revision>1</cp:revision>
  <dcterms:created xsi:type="dcterms:W3CDTF">2026-05-31T22:12:06Z</dcterms:created>
  <dcterms:modified xsi:type="dcterms:W3CDTF">2026-05-31T22:12:06Z</dcterms:modified>
</cp:coreProperties>
</file>